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3"/>
    <p:sldId id="257" r:id="rId4"/>
    <p:sldId id="258" r:id="rId5"/>
    <p:sldId id="259" r:id="rId6"/>
    <p:sldId id="264" r:id="rId7"/>
    <p:sldId id="260" r:id="rId8"/>
    <p:sldId id="261" r:id="rId9"/>
    <p:sldId id="262" r:id="rId10"/>
    <p:sldId id="263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Customer Analytics Project | 2025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Customer Analytics Project | 2025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Customer Analytics Project | 2025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Customer Analytics Project | 2025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Customer Analytics Project | 2025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Customer Analytics Project | 2025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Customer Analytics Project | 2025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Customer Analytics Project | 2025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Customer Analytics Project | 2025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Customer Analytics Project | 2025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Customer Analytics Project | 2025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Customer Analytics Project | 2025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hemeOverride" Target="../theme/themeOverride1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97635" y="1706880"/>
            <a:ext cx="9144000" cy="808355"/>
          </a:xfrm>
        </p:spPr>
        <p:txBody>
          <a:bodyPr>
            <a:noAutofit/>
          </a:bodyPr>
          <a:p>
            <a:r>
              <a:rPr lang="en-US" altLang="en-US" b="1" u="sng">
                <a:solidFill>
                  <a:schemeClr val="accent5">
                    <a:lumMod val="50000"/>
                  </a:schemeClr>
                </a:solidFill>
                <a:cs typeface="+mj-lt"/>
              </a:rPr>
              <a:t>Customer Segmentation</a:t>
            </a:r>
            <a:endParaRPr lang="en-US" altLang="en-US" b="1" u="sng">
              <a:solidFill>
                <a:schemeClr val="accent5">
                  <a:lumMod val="50000"/>
                </a:schemeClr>
              </a:solidFill>
              <a:cs typeface="+mj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pPr algn="just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altLang="en-US" sz="2000">
                <a:cs typeface="+mn-lt"/>
              </a:rPr>
              <a:t>Name: Greeshma</a:t>
            </a:r>
            <a:r>
              <a:rPr lang="en-IN" altLang="en-US" sz="2000">
                <a:cs typeface="+mn-lt"/>
              </a:rPr>
              <a:t> C P</a:t>
            </a:r>
            <a:endParaRPr lang="en-IN" altLang="en-US" sz="2000">
              <a:cs typeface="+mn-lt"/>
            </a:endParaRPr>
          </a:p>
          <a:p>
            <a:pPr algn="just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altLang="en-US" sz="2000">
                <a:cs typeface="+mn-lt"/>
              </a:rPr>
              <a:t>Project ID: CDACL-002</a:t>
            </a:r>
            <a:endParaRPr lang="en-US" altLang="en-US" sz="2000">
              <a:cs typeface="+mn-lt"/>
            </a:endParaRPr>
          </a:p>
          <a:p>
            <a:pPr algn="just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altLang="en-US" sz="2000">
                <a:cs typeface="+mn-lt"/>
              </a:rPr>
              <a:t>Tool Used: Orange Data Mining</a:t>
            </a:r>
            <a:endParaRPr lang="en-US" altLang="en-US" sz="2000">
              <a:cs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849485" y="6492875"/>
            <a:ext cx="2342515" cy="365125"/>
          </a:xfrm>
        </p:spPr>
        <p:txBody>
          <a:bodyPr/>
          <a:p>
            <a:r>
              <a:rPr lang="en-US" sz="1000">
                <a:solidFill>
                  <a:schemeClr val="bg1">
                    <a:lumMod val="50000"/>
                  </a:schemeClr>
                </a:solidFill>
              </a:rPr>
              <a:t>Customer Analytics Project | 2025</a:t>
            </a:r>
            <a:endParaRPr lang="en-US" sz="100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36270"/>
            <a:ext cx="10515600" cy="664210"/>
          </a:xfrm>
        </p:spPr>
        <p:txBody>
          <a:bodyPr>
            <a:normAutofit/>
          </a:bodyPr>
          <a:p>
            <a:r>
              <a:rPr lang="en-IN" altLang="en-US" sz="3200" b="1">
                <a:solidFill>
                  <a:schemeClr val="accent5">
                    <a:lumMod val="50000"/>
                  </a:schemeClr>
                </a:solidFill>
              </a:rPr>
              <a:t>PROJECT OVERVIEW</a:t>
            </a:r>
            <a:endParaRPr lang="en-IN" altLang="en-US" sz="3200" b="1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lang="en-US" altLang="en-US" sz="2300">
                <a:solidFill>
                  <a:schemeClr val="tx1">
                    <a:lumMod val="85000"/>
                    <a:lumOff val="15000"/>
                  </a:schemeClr>
                </a:solidFill>
              </a:rPr>
              <a:t>Objective of the analysis</a:t>
            </a:r>
            <a:endParaRPr lang="en-US" altLang="en-US" sz="23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lang="en-US" altLang="en-US" sz="2300">
                <a:solidFill>
                  <a:schemeClr val="tx1">
                    <a:lumMod val="85000"/>
                    <a:lumOff val="15000"/>
                  </a:schemeClr>
                </a:solidFill>
              </a:rPr>
              <a:t>Description of the dataset</a:t>
            </a:r>
            <a:endParaRPr lang="en-US" altLang="en-US" sz="23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lang="en-US" altLang="en-US" sz="2300">
                <a:solidFill>
                  <a:schemeClr val="tx1">
                    <a:lumMod val="85000"/>
                    <a:lumOff val="15000"/>
                  </a:schemeClr>
                </a:solidFill>
              </a:rPr>
              <a:t>Analytical approach and tools used</a:t>
            </a:r>
            <a:endParaRPr lang="en-US" altLang="en-US" sz="23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lang="en-US" altLang="en-US" sz="2300">
                <a:solidFill>
                  <a:schemeClr val="tx1">
                    <a:lumMod val="85000"/>
                    <a:lumOff val="15000"/>
                  </a:schemeClr>
                </a:solidFill>
              </a:rPr>
              <a:t>Key insights from customer segmentation</a:t>
            </a:r>
            <a:endParaRPr lang="en-US" altLang="en-US" sz="23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lang="en-US" altLang="en-US" sz="2300">
                <a:solidFill>
                  <a:schemeClr val="tx1">
                    <a:lumMod val="85000"/>
                    <a:lumOff val="15000"/>
                  </a:schemeClr>
                </a:solidFill>
              </a:rPr>
              <a:t>Business recommendations</a:t>
            </a:r>
            <a:endParaRPr lang="en-US" altLang="en-US" sz="23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838055" y="6492875"/>
            <a:ext cx="2353945" cy="365125"/>
          </a:xfrm>
        </p:spPr>
        <p:txBody>
          <a:bodyPr/>
          <a:p>
            <a:r>
              <a:rPr lang="en-US" sz="1000"/>
              <a:t>Customer Analytics Project | 2025</a:t>
            </a:r>
            <a:endParaRPr lang="en-US" sz="1000"/>
          </a:p>
        </p:txBody>
      </p:sp>
      <p:sp>
        <p:nvSpPr>
          <p:cNvPr id="6" name="Rectangles 5"/>
          <p:cNvSpPr/>
          <p:nvPr/>
        </p:nvSpPr>
        <p:spPr>
          <a:xfrm flipV="1">
            <a:off x="762635" y="1210310"/>
            <a:ext cx="8551545" cy="18000"/>
          </a:xfrm>
          <a:prstGeom prst="rect">
            <a:avLst/>
          </a:prstGeom>
          <a:solidFill>
            <a:schemeClr val="accent5">
              <a:lumMod val="50000"/>
            </a:schemeClr>
          </a:solidFill>
          <a:ln w="0" cmpd="sng">
            <a:noFill/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54355"/>
            <a:ext cx="10515600" cy="860425"/>
          </a:xfrm>
        </p:spPr>
        <p:txBody>
          <a:bodyPr/>
          <a:p>
            <a:r>
              <a:rPr lang="en-US" altLang="en-US" sz="3200" b="1">
                <a:solidFill>
                  <a:schemeClr val="accent5">
                    <a:lumMod val="50000"/>
                  </a:schemeClr>
                </a:solidFill>
              </a:rPr>
              <a:t>PROBLEM STATEMENT</a:t>
            </a:r>
            <a:endParaRPr lang="en-US" altLang="en-US" sz="3200" b="1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099435"/>
          </a:xfrm>
        </p:spPr>
        <p:txBody>
          <a:bodyPr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lang="en-US" altLang="en-US" sz="2300">
                <a:solidFill>
                  <a:schemeClr val="tx1">
                    <a:lumMod val="85000"/>
                    <a:lumOff val="15000"/>
                  </a:schemeClr>
                </a:solidFill>
              </a:rPr>
              <a:t>Understand customer shopping behavior using transaction data</a:t>
            </a:r>
            <a:endParaRPr lang="en-US" altLang="en-US" sz="23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lang="en-US" altLang="en-US" sz="2300">
                <a:solidFill>
                  <a:schemeClr val="tx1">
                    <a:lumMod val="85000"/>
                    <a:lumOff val="15000"/>
                  </a:schemeClr>
                </a:solidFill>
              </a:rPr>
              <a:t>Identify product categories where discounts should be applied</a:t>
            </a:r>
            <a:endParaRPr lang="en-US" altLang="en-US" sz="23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lang="en-US" altLang="en-US" sz="2300">
                <a:solidFill>
                  <a:schemeClr val="tx1">
                    <a:lumMod val="85000"/>
                    <a:lumOff val="15000"/>
                  </a:schemeClr>
                </a:solidFill>
              </a:rPr>
              <a:t>Analyze card spending patterns across different age groups</a:t>
            </a:r>
            <a:endParaRPr lang="en-US" altLang="en-US" sz="23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lang="en-US" altLang="en-US" sz="2300">
                <a:solidFill>
                  <a:schemeClr val="tx1">
                    <a:lumMod val="85000"/>
                    <a:lumOff val="15000"/>
                  </a:schemeClr>
                </a:solidFill>
              </a:rPr>
              <a:t>Study the influence of seasonal and regional factors on purchases</a:t>
            </a:r>
            <a:endParaRPr lang="en-US" altLang="en-US" sz="23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640570" y="6535420"/>
            <a:ext cx="2616200" cy="137795"/>
          </a:xfrm>
        </p:spPr>
        <p:txBody>
          <a:bodyPr/>
          <a:p>
            <a:r>
              <a:rPr lang="en-IN" altLang="en-US"/>
              <a:t>                                                                                                                             </a:t>
            </a:r>
            <a:r>
              <a:rPr lang="en-US" sz="1000"/>
              <a:t>Customer Analytics Project | 2025</a:t>
            </a:r>
            <a:endParaRPr lang="en-US" sz="1000"/>
          </a:p>
        </p:txBody>
      </p:sp>
      <p:sp>
        <p:nvSpPr>
          <p:cNvPr id="6" name="Rectangles 5"/>
          <p:cNvSpPr/>
          <p:nvPr/>
        </p:nvSpPr>
        <p:spPr>
          <a:xfrm flipV="1">
            <a:off x="762635" y="1210310"/>
            <a:ext cx="8551545" cy="18000"/>
          </a:xfrm>
          <a:prstGeom prst="rect">
            <a:avLst/>
          </a:prstGeom>
          <a:solidFill>
            <a:schemeClr val="accent5">
              <a:lumMod val="50000"/>
            </a:schemeClr>
          </a:solidFill>
          <a:ln w="0" cmpd="sng">
            <a:noFill/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10540"/>
            <a:ext cx="10515600" cy="699770"/>
          </a:xfrm>
        </p:spPr>
        <p:txBody>
          <a:bodyPr/>
          <a:p>
            <a:r>
              <a:rPr lang="en-US" altLang="en-US" sz="3200" b="1">
                <a:solidFill>
                  <a:schemeClr val="accent5">
                    <a:lumMod val="50000"/>
                  </a:schemeClr>
                </a:solidFill>
              </a:rPr>
              <a:t>DATASET OVERVIEW</a:t>
            </a:r>
            <a:endParaRPr lang="en-US" altLang="en-US" sz="3200" b="1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69085"/>
            <a:ext cx="6605270" cy="5288915"/>
          </a:xfrm>
        </p:spPr>
        <p:txBody>
          <a:bodyPr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lang="en-US" altLang="en-US" sz="2300">
                <a:solidFill>
                  <a:schemeClr val="tx1">
                    <a:lumMod val="85000"/>
                    <a:lumOff val="15000"/>
                  </a:schemeClr>
                </a:solidFill>
              </a:rPr>
              <a:t>Dataset consists of 3900 customer purchase records</a:t>
            </a:r>
            <a:r>
              <a:rPr lang="en-IN" altLang="en-US" sz="230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  <a:endParaRPr lang="en-US" altLang="en-US" sz="23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lang="en-US" altLang="en-US" sz="2300">
                <a:solidFill>
                  <a:schemeClr val="tx1">
                    <a:lumMod val="85000"/>
                    <a:lumOff val="15000"/>
                  </a:schemeClr>
                </a:solidFill>
              </a:rPr>
              <a:t>Data represents shopping behavior across multiple US cities</a:t>
            </a:r>
            <a:r>
              <a:rPr lang="en-IN" altLang="en-US" sz="230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  <a:endParaRPr lang="en-US" altLang="en-US" sz="23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lang="en-US" altLang="en-US" sz="2300">
                <a:solidFill>
                  <a:schemeClr val="tx1">
                    <a:lumMod val="85000"/>
                    <a:lumOff val="15000"/>
                  </a:schemeClr>
                </a:solidFill>
              </a:rPr>
              <a:t>Includes demographic, transactional, and behavioral attributes</a:t>
            </a:r>
            <a:r>
              <a:rPr lang="en-IN" altLang="en-US" sz="230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  <a:endParaRPr lang="en-US" altLang="en-US" sz="23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 algn="l">
              <a:lnSpc>
                <a:spcPct val="90000"/>
              </a:lnSpc>
              <a:spcAft>
                <a:spcPts val="0"/>
              </a:spcAft>
              <a:buNone/>
            </a:pPr>
            <a:endParaRPr lang="en-US" altLang="en-US" sz="23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771380" y="6492875"/>
            <a:ext cx="2420620" cy="365125"/>
          </a:xfrm>
        </p:spPr>
        <p:txBody>
          <a:bodyPr/>
          <a:p>
            <a:r>
              <a:rPr lang="en-US" sz="1000"/>
              <a:t>Customer Analytics Project | 2025</a:t>
            </a:r>
            <a:endParaRPr lang="en-US" sz="1000"/>
          </a:p>
        </p:txBody>
      </p:sp>
      <p:sp>
        <p:nvSpPr>
          <p:cNvPr id="7" name="Rectangles 6"/>
          <p:cNvSpPr/>
          <p:nvPr/>
        </p:nvSpPr>
        <p:spPr>
          <a:xfrm flipV="1">
            <a:off x="762635" y="1069340"/>
            <a:ext cx="8551545" cy="18000"/>
          </a:xfrm>
          <a:prstGeom prst="rect">
            <a:avLst/>
          </a:prstGeom>
          <a:solidFill>
            <a:schemeClr val="accent5">
              <a:lumMod val="50000"/>
            </a:schemeClr>
          </a:solidFill>
          <a:ln w="0" cmpd="sng">
            <a:noFill/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8" name="Picture 7" descr="Screenshot 2026-01-08 163243"/>
          <p:cNvPicPr>
            <a:picLocks noChangeAspect="1"/>
          </p:cNvPicPr>
          <p:nvPr/>
        </p:nvPicPr>
        <p:blipFill>
          <a:blip r:embed="rId1"/>
          <a:srcRect l="1983" r="14229" b="6824"/>
          <a:stretch>
            <a:fillRect/>
          </a:stretch>
        </p:blipFill>
        <p:spPr>
          <a:xfrm>
            <a:off x="8305165" y="1649730"/>
            <a:ext cx="3164003" cy="289828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50520"/>
            <a:ext cx="10515600" cy="859790"/>
          </a:xfrm>
        </p:spPr>
        <p:txBody>
          <a:bodyPr/>
          <a:p>
            <a:r>
              <a:rPr lang="en-US" altLang="en-US" sz="3200" b="1">
                <a:solidFill>
                  <a:schemeClr val="accent5">
                    <a:lumMod val="50000"/>
                  </a:schemeClr>
                </a:solidFill>
              </a:rPr>
              <a:t>M</a:t>
            </a:r>
            <a:r>
              <a:rPr lang="en-IN" altLang="en-US" sz="3200" b="1">
                <a:solidFill>
                  <a:schemeClr val="accent5">
                    <a:lumMod val="50000"/>
                  </a:schemeClr>
                </a:solidFill>
              </a:rPr>
              <a:t>ETHODOLOGY</a:t>
            </a:r>
            <a:endParaRPr lang="en-IN" altLang="en-US" sz="3200" b="1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62075"/>
            <a:ext cx="10515600" cy="5131435"/>
          </a:xfrm>
        </p:spPr>
        <p:txBody>
          <a:bodyPr>
            <a:noAutofit/>
          </a:bodyPr>
          <a:p>
            <a:pPr marL="0" indent="0">
              <a:lnSpc>
                <a:spcPct val="140000"/>
              </a:lnSpc>
              <a:spcAft>
                <a:spcPts val="0"/>
              </a:spcAft>
              <a:buNone/>
            </a:pPr>
            <a:r>
              <a:rPr lang="en-US" altLang="en-US" sz="2300">
                <a:solidFill>
                  <a:schemeClr val="tx1">
                    <a:lumMod val="85000"/>
                    <a:lumOff val="15000"/>
                  </a:schemeClr>
                </a:solidFill>
              </a:rPr>
              <a:t>Tools Used</a:t>
            </a:r>
            <a:endParaRPr lang="en-US" altLang="en-US" sz="23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40000"/>
              </a:lnSpc>
              <a:spcAft>
                <a:spcPts val="0"/>
              </a:spcAft>
            </a:pPr>
            <a:r>
              <a:rPr lang="en-US" altLang="en-US" sz="2300">
                <a:solidFill>
                  <a:schemeClr val="tx1">
                    <a:lumMod val="85000"/>
                    <a:lumOff val="15000"/>
                  </a:schemeClr>
                </a:solidFill>
              </a:rPr>
              <a:t>phpMyAdmin</a:t>
            </a:r>
            <a:endParaRPr lang="en-US" altLang="en-US" sz="23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40000"/>
              </a:lnSpc>
              <a:spcAft>
                <a:spcPts val="0"/>
              </a:spcAft>
            </a:pPr>
            <a:r>
              <a:rPr lang="en-US" altLang="en-US" sz="2300">
                <a:solidFill>
                  <a:schemeClr val="tx1">
                    <a:lumMod val="85000"/>
                    <a:lumOff val="15000"/>
                  </a:schemeClr>
                </a:solidFill>
              </a:rPr>
              <a:t>Orange Data Mining</a:t>
            </a:r>
            <a:endParaRPr lang="en-US" altLang="en-US" sz="23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lnSpc>
                <a:spcPct val="140000"/>
              </a:lnSpc>
              <a:spcAft>
                <a:spcPts val="0"/>
              </a:spcAft>
              <a:buNone/>
            </a:pPr>
            <a:r>
              <a:rPr lang="en-US" altLang="en-US" sz="2300">
                <a:solidFill>
                  <a:schemeClr val="tx1">
                    <a:lumMod val="85000"/>
                    <a:lumOff val="15000"/>
                  </a:schemeClr>
                </a:solidFill>
              </a:rPr>
              <a:t>Methodology</a:t>
            </a:r>
            <a:endParaRPr lang="en-US" altLang="en-US" sz="23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40000"/>
              </a:lnSpc>
              <a:spcAft>
                <a:spcPts val="0"/>
              </a:spcAft>
            </a:pPr>
            <a:r>
              <a:rPr lang="en-US" altLang="en-US" sz="2300">
                <a:solidFill>
                  <a:schemeClr val="tx1">
                    <a:lumMod val="85000"/>
                    <a:lumOff val="15000"/>
                  </a:schemeClr>
                </a:solidFill>
              </a:rPr>
              <a:t>Data understanding and preprocessing</a:t>
            </a:r>
            <a:endParaRPr lang="en-US" altLang="en-US" sz="23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40000"/>
              </a:lnSpc>
              <a:spcAft>
                <a:spcPts val="0"/>
              </a:spcAft>
            </a:pPr>
            <a:r>
              <a:rPr lang="en-US" altLang="en-US" sz="2300">
                <a:solidFill>
                  <a:schemeClr val="tx1">
                    <a:lumMod val="85000"/>
                    <a:lumOff val="15000"/>
                  </a:schemeClr>
                </a:solidFill>
              </a:rPr>
              <a:t>Feature selection for analysis</a:t>
            </a:r>
            <a:endParaRPr lang="en-US" altLang="en-US" sz="23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40000"/>
              </a:lnSpc>
              <a:spcAft>
                <a:spcPts val="0"/>
              </a:spcAft>
            </a:pPr>
            <a:r>
              <a:rPr lang="en-US" altLang="en-US" sz="2300">
                <a:solidFill>
                  <a:schemeClr val="tx1">
                    <a:lumMod val="85000"/>
                    <a:lumOff val="15000"/>
                  </a:schemeClr>
                </a:solidFill>
              </a:rPr>
              <a:t>K-Means clustering for customer segmentation</a:t>
            </a:r>
            <a:endParaRPr lang="en-US" altLang="en-US" sz="23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40000"/>
              </a:lnSpc>
              <a:spcAft>
                <a:spcPts val="0"/>
              </a:spcAft>
            </a:pPr>
            <a:r>
              <a:rPr lang="en-US" altLang="en-US" sz="2300">
                <a:solidFill>
                  <a:schemeClr val="tx1">
                    <a:lumMod val="85000"/>
                    <a:lumOff val="15000"/>
                  </a:schemeClr>
                </a:solidFill>
              </a:rPr>
              <a:t>Visual analysis using scatter plots and distributions</a:t>
            </a:r>
            <a:endParaRPr lang="en-US" altLang="en-US" sz="23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0017760" y="6492875"/>
            <a:ext cx="2174240" cy="365125"/>
          </a:xfrm>
        </p:spPr>
        <p:txBody>
          <a:bodyPr/>
          <a:p>
            <a:r>
              <a:rPr lang="en-US" sz="1000"/>
              <a:t>Customer Analytics Project | 2025</a:t>
            </a:r>
            <a:endParaRPr lang="en-US" sz="1000"/>
          </a:p>
        </p:txBody>
      </p:sp>
      <p:sp>
        <p:nvSpPr>
          <p:cNvPr id="6" name="Rectangles 5"/>
          <p:cNvSpPr/>
          <p:nvPr/>
        </p:nvSpPr>
        <p:spPr>
          <a:xfrm flipV="1">
            <a:off x="762635" y="1058545"/>
            <a:ext cx="8551545" cy="18000"/>
          </a:xfrm>
          <a:prstGeom prst="rect">
            <a:avLst/>
          </a:prstGeom>
          <a:solidFill>
            <a:schemeClr val="accent5">
              <a:lumMod val="50000"/>
            </a:schemeClr>
          </a:solidFill>
          <a:ln w="0" cmpd="sng">
            <a:noFill/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635" y="617220"/>
            <a:ext cx="10515600" cy="610870"/>
          </a:xfrm>
        </p:spPr>
        <p:txBody>
          <a:bodyPr/>
          <a:p>
            <a:r>
              <a:rPr lang="en-US" altLang="en-US" sz="3200" b="1" cap="all">
                <a:solidFill>
                  <a:schemeClr val="accent5">
                    <a:lumMod val="50000"/>
                  </a:schemeClr>
                </a:solidFill>
                <a:uFillTx/>
              </a:rPr>
              <a:t>Feature Selection</a:t>
            </a:r>
            <a:r>
              <a:rPr lang="en-IN" altLang="en-US" sz="3200" b="1" cap="all">
                <a:solidFill>
                  <a:schemeClr val="accent5">
                    <a:lumMod val="50000"/>
                  </a:schemeClr>
                </a:solidFill>
                <a:uFillTx/>
              </a:rPr>
              <a:t> </a:t>
            </a:r>
            <a:endParaRPr lang="en-US" altLang="en-US" sz="3200" b="1" cap="all">
              <a:solidFill>
                <a:schemeClr val="accent5">
                  <a:lumMod val="50000"/>
                </a:schemeClr>
              </a:solidFill>
              <a:uFillTx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23390"/>
            <a:ext cx="6113780" cy="4589780"/>
          </a:xfrm>
        </p:spPr>
        <p:txBody>
          <a:bodyPr>
            <a:noAutofit/>
          </a:bodyPr>
          <a:p>
            <a:pPr marL="0" indent="0">
              <a:lnSpc>
                <a:spcPct val="140000"/>
              </a:lnSpc>
              <a:spcAft>
                <a:spcPts val="0"/>
              </a:spcAft>
              <a:buNone/>
            </a:pPr>
            <a:r>
              <a:rPr lang="en-US" altLang="en-US" sz="2300">
                <a:solidFill>
                  <a:schemeClr val="tx1">
                    <a:lumMod val="85000"/>
                    <a:lumOff val="15000"/>
                  </a:schemeClr>
                </a:solidFill>
              </a:rPr>
              <a:t>Feature Selection</a:t>
            </a:r>
            <a:endParaRPr lang="en-US" altLang="en-US" sz="23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40000"/>
              </a:lnSpc>
              <a:spcAft>
                <a:spcPts val="0"/>
              </a:spcAft>
            </a:pPr>
            <a:r>
              <a:rPr lang="en-US" altLang="en-US" sz="2300">
                <a:solidFill>
                  <a:schemeClr val="tx1">
                    <a:lumMod val="85000"/>
                    <a:lumOff val="15000"/>
                  </a:schemeClr>
                </a:solidFill>
              </a:rPr>
              <a:t>Relevant numerical and categorical features were selected</a:t>
            </a:r>
            <a:r>
              <a:rPr lang="en-IN" altLang="en-US" sz="230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  <a:endParaRPr lang="en-US" altLang="en-US" sz="23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40000"/>
              </a:lnSpc>
              <a:spcAft>
                <a:spcPts val="0"/>
              </a:spcAft>
            </a:pPr>
            <a:r>
              <a:rPr lang="en-US" altLang="en-US" sz="2300">
                <a:solidFill>
                  <a:schemeClr val="tx1">
                    <a:lumMod val="85000"/>
                    <a:lumOff val="15000"/>
                  </a:schemeClr>
                </a:solidFill>
              </a:rPr>
              <a:t>Identifier attributes were excluded from clustering</a:t>
            </a:r>
            <a:r>
              <a:rPr lang="en-IN" altLang="en-US" sz="230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  <a:endParaRPr lang="en-US" altLang="en-US" sz="23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buNone/>
            </a:pPr>
            <a:endParaRPr lang="en-US" altLang="en-US" sz="23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600565" y="6492875"/>
            <a:ext cx="2591435" cy="365125"/>
          </a:xfrm>
        </p:spPr>
        <p:txBody>
          <a:bodyPr/>
          <a:p>
            <a:r>
              <a:rPr lang="en-US" sz="1000"/>
              <a:t>Customer Analytics Project | 2025</a:t>
            </a:r>
            <a:endParaRPr lang="en-US" sz="1000"/>
          </a:p>
        </p:txBody>
      </p:sp>
      <p:pic>
        <p:nvPicPr>
          <p:cNvPr id="7" name="Picture 6"/>
          <p:cNvPicPr/>
          <p:nvPr/>
        </p:nvPicPr>
        <p:blipFill>
          <a:blip r:embed="rId1"/>
          <a:srcRect l="61087" b="6918"/>
          <a:stretch>
            <a:fillRect/>
          </a:stretch>
        </p:blipFill>
        <p:spPr>
          <a:xfrm>
            <a:off x="7665720" y="1811020"/>
            <a:ext cx="3862070" cy="3236595"/>
          </a:xfrm>
          <a:prstGeom prst="rect">
            <a:avLst/>
          </a:prstGeom>
        </p:spPr>
      </p:pic>
      <p:sp>
        <p:nvSpPr>
          <p:cNvPr id="8" name="Rectangles 7"/>
          <p:cNvSpPr/>
          <p:nvPr/>
        </p:nvSpPr>
        <p:spPr>
          <a:xfrm flipV="1">
            <a:off x="762635" y="1210310"/>
            <a:ext cx="8551545" cy="18000"/>
          </a:xfrm>
          <a:prstGeom prst="rect">
            <a:avLst/>
          </a:prstGeom>
          <a:solidFill>
            <a:schemeClr val="accent5">
              <a:lumMod val="50000"/>
            </a:schemeClr>
          </a:solidFill>
          <a:ln w="0" cmpd="sng">
            <a:noFill/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635" y="564515"/>
            <a:ext cx="10515600" cy="872490"/>
          </a:xfrm>
        </p:spPr>
        <p:txBody>
          <a:bodyPr/>
          <a:p>
            <a:r>
              <a:rPr lang="en-US" altLang="en-US" sz="3200" b="1" cap="all">
                <a:solidFill>
                  <a:schemeClr val="accent5">
                    <a:lumMod val="50000"/>
                  </a:schemeClr>
                </a:solidFill>
                <a:uFillTx/>
                <a:sym typeface="+mn-ea"/>
              </a:rPr>
              <a:t>CLUSTERING SETUP</a:t>
            </a:r>
            <a:endParaRPr lang="en-US" altLang="en-US" sz="3200" b="1" cap="all">
              <a:solidFill>
                <a:schemeClr val="accent5">
                  <a:lumMod val="50000"/>
                </a:schemeClr>
              </a:solidFill>
              <a:uFillTx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42415"/>
            <a:ext cx="5972810" cy="5090160"/>
          </a:xfrm>
        </p:spPr>
        <p:txBody>
          <a:bodyPr>
            <a:noAutofit/>
          </a:bodyPr>
          <a:p>
            <a:pPr marL="0" indent="0" algn="l">
              <a:lnSpc>
                <a:spcPct val="140000"/>
              </a:lnSpc>
              <a:spcAft>
                <a:spcPts val="0"/>
              </a:spcAft>
              <a:buNone/>
            </a:pPr>
            <a:r>
              <a:rPr lang="en-US" altLang="en-US" sz="2300">
                <a:solidFill>
                  <a:schemeClr val="tx1">
                    <a:lumMod val="85000"/>
                    <a:lumOff val="15000"/>
                  </a:schemeClr>
                </a:solidFill>
              </a:rPr>
              <a:t>Clustering Approach</a:t>
            </a:r>
            <a:endParaRPr lang="en-US" altLang="en-US" sz="23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lang="en-US" altLang="en-US" sz="2300">
                <a:solidFill>
                  <a:schemeClr val="tx1">
                    <a:lumMod val="85000"/>
                    <a:lumOff val="15000"/>
                  </a:schemeClr>
                </a:solidFill>
              </a:rPr>
              <a:t>Unsupervised learning using K-Means clustering</a:t>
            </a:r>
            <a:r>
              <a:rPr lang="en-IN" altLang="en-US" sz="230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  <a:endParaRPr lang="en-US" altLang="en-US" sz="23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lang="en-US" altLang="en-US" sz="2300">
                <a:solidFill>
                  <a:schemeClr val="tx1">
                    <a:lumMod val="85000"/>
                    <a:lumOff val="15000"/>
                  </a:schemeClr>
                </a:solidFill>
              </a:rPr>
              <a:t>Customers grouped based on behavioral similarity</a:t>
            </a:r>
            <a:r>
              <a:rPr lang="en-IN" altLang="en-US" sz="230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  <a:endParaRPr lang="en-US" altLang="en-US" sz="23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 algn="l">
              <a:lnSpc>
                <a:spcPct val="120000"/>
              </a:lnSpc>
              <a:spcAft>
                <a:spcPts val="0"/>
              </a:spcAft>
              <a:buNone/>
            </a:pPr>
            <a:endParaRPr lang="en-US" altLang="en-US" sz="23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0209530" y="6492875"/>
            <a:ext cx="1982470" cy="365125"/>
          </a:xfrm>
        </p:spPr>
        <p:txBody>
          <a:bodyPr/>
          <a:p>
            <a:r>
              <a:rPr lang="en-US" sz="1000"/>
              <a:t>Customer Analytics Project | 2025</a:t>
            </a:r>
            <a:endParaRPr lang="en-US" sz="1000"/>
          </a:p>
        </p:txBody>
      </p:sp>
      <p:sp>
        <p:nvSpPr>
          <p:cNvPr id="6" name="Rectangles 5"/>
          <p:cNvSpPr/>
          <p:nvPr/>
        </p:nvSpPr>
        <p:spPr>
          <a:xfrm flipV="1">
            <a:off x="762635" y="1210310"/>
            <a:ext cx="8551545" cy="18000"/>
          </a:xfrm>
          <a:prstGeom prst="rect">
            <a:avLst/>
          </a:prstGeom>
          <a:solidFill>
            <a:schemeClr val="accent5">
              <a:lumMod val="50000"/>
            </a:schemeClr>
          </a:solidFill>
          <a:ln w="0" cmpd="sng">
            <a:noFill/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5" name="Picture 4"/>
          <p:cNvPicPr/>
          <p:nvPr/>
        </p:nvPicPr>
        <p:blipFill>
          <a:blip r:embed="rId1"/>
          <a:srcRect l="1391" t="2034" r="15430" b="3823"/>
          <a:stretch>
            <a:fillRect/>
          </a:stretch>
        </p:blipFill>
        <p:spPr>
          <a:xfrm>
            <a:off x="7616825" y="2023745"/>
            <a:ext cx="4045369" cy="34861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56260"/>
            <a:ext cx="10515600" cy="742315"/>
          </a:xfrm>
        </p:spPr>
        <p:txBody>
          <a:bodyPr/>
          <a:p>
            <a:r>
              <a:rPr lang="en-US" altLang="en-US" sz="3200" b="1" cap="all">
                <a:solidFill>
                  <a:schemeClr val="accent5">
                    <a:lumMod val="50000"/>
                  </a:schemeClr>
                </a:solidFill>
                <a:uFillTx/>
              </a:rPr>
              <a:t>Customer Clusters Visualization</a:t>
            </a:r>
            <a:endParaRPr lang="en-US" altLang="en-US" sz="3200" b="1" cap="all">
              <a:solidFill>
                <a:schemeClr val="accent5">
                  <a:lumMod val="50000"/>
                </a:schemeClr>
              </a:solidFill>
              <a:uFillTx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94510"/>
            <a:ext cx="5802630" cy="4382770"/>
          </a:xfrm>
        </p:spPr>
        <p:txBody>
          <a:bodyPr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lang="en-US" altLang="en-US" sz="2300">
                <a:solidFill>
                  <a:schemeClr val="tx1">
                    <a:lumMod val="85000"/>
                    <a:lumOff val="15000"/>
                  </a:schemeClr>
                </a:solidFill>
              </a:rPr>
              <a:t>Customers are segmented into three distinct clusters</a:t>
            </a:r>
            <a:r>
              <a:rPr lang="en-IN" altLang="en-US" sz="230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  <a:endParaRPr lang="en-US" altLang="en-US" sz="23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lang="en-US" altLang="en-US" sz="2300">
                <a:solidFill>
                  <a:schemeClr val="tx1">
                    <a:lumMod val="85000"/>
                    <a:lumOff val="15000"/>
                  </a:schemeClr>
                </a:solidFill>
              </a:rPr>
              <a:t>Each cluster represents customers with similar age and spending behavior</a:t>
            </a:r>
            <a:r>
              <a:rPr lang="en-IN" altLang="en-US" sz="230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  <a:endParaRPr lang="en-US" altLang="en-US" sz="23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lang="en-US" altLang="en-US" sz="2300">
                <a:solidFill>
                  <a:schemeClr val="tx1">
                    <a:lumMod val="85000"/>
                    <a:lumOff val="15000"/>
                  </a:schemeClr>
                </a:solidFill>
              </a:rPr>
              <a:t>Clear separation indicates effective clustering</a:t>
            </a:r>
            <a:r>
              <a:rPr lang="en-IN" altLang="en-US" sz="230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  <a:endParaRPr lang="en-IN" altLang="en-US" sz="23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0134600" y="6492875"/>
            <a:ext cx="2057400" cy="365125"/>
          </a:xfrm>
        </p:spPr>
        <p:txBody>
          <a:bodyPr/>
          <a:p>
            <a:r>
              <a:rPr lang="en-US" sz="1000"/>
              <a:t>Customer Analytics Project | 2025</a:t>
            </a:r>
            <a:endParaRPr lang="en-US" sz="1000"/>
          </a:p>
        </p:txBody>
      </p:sp>
      <p:sp>
        <p:nvSpPr>
          <p:cNvPr id="6" name="Rectangles 5"/>
          <p:cNvSpPr/>
          <p:nvPr/>
        </p:nvSpPr>
        <p:spPr>
          <a:xfrm flipV="1">
            <a:off x="762635" y="1210310"/>
            <a:ext cx="8551545" cy="18000"/>
          </a:xfrm>
          <a:prstGeom prst="rect">
            <a:avLst/>
          </a:prstGeom>
          <a:solidFill>
            <a:schemeClr val="accent5">
              <a:lumMod val="50000"/>
            </a:schemeClr>
          </a:solidFill>
          <a:ln w="0" cmpd="sng">
            <a:noFill/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5" name="Picture 4"/>
          <p:cNvPicPr/>
          <p:nvPr/>
        </p:nvPicPr>
        <p:blipFill>
          <a:blip r:embed="rId1"/>
          <a:srcRect r="4453"/>
          <a:stretch>
            <a:fillRect/>
          </a:stretch>
        </p:blipFill>
        <p:spPr>
          <a:xfrm>
            <a:off x="7585710" y="1904365"/>
            <a:ext cx="3961765" cy="29876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83565"/>
            <a:ext cx="10515600" cy="734060"/>
          </a:xfrm>
        </p:spPr>
        <p:txBody>
          <a:bodyPr/>
          <a:p>
            <a:r>
              <a:rPr lang="en-US" altLang="en-US" sz="3200" b="1">
                <a:solidFill>
                  <a:schemeClr val="accent5">
                    <a:lumMod val="50000"/>
                  </a:schemeClr>
                </a:solidFill>
              </a:rPr>
              <a:t>CLUSTER-WISE DISTRIBUTION </a:t>
            </a:r>
            <a:r>
              <a:rPr lang="en-IN" altLang="en-US" sz="3200" b="1">
                <a:solidFill>
                  <a:schemeClr val="accent5">
                    <a:lumMod val="50000"/>
                  </a:schemeClr>
                </a:solidFill>
              </a:rPr>
              <a:t>&amp; </a:t>
            </a:r>
            <a:r>
              <a:rPr lang="en-US" altLang="en-US" sz="3200" b="1">
                <a:solidFill>
                  <a:schemeClr val="accent5">
                    <a:lumMod val="50000"/>
                  </a:schemeClr>
                </a:solidFill>
                <a:sym typeface="+mn-ea"/>
              </a:rPr>
              <a:t>BEHAVIOR </a:t>
            </a:r>
            <a:r>
              <a:rPr lang="en-US" altLang="en-US" sz="3200" b="1">
                <a:solidFill>
                  <a:schemeClr val="accent5">
                    <a:lumMod val="50000"/>
                  </a:schemeClr>
                </a:solidFill>
              </a:rPr>
              <a:t>ANALYSIS</a:t>
            </a:r>
            <a:endParaRPr lang="en-US" altLang="en-US" sz="3200" b="1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2475" y="1599565"/>
            <a:ext cx="5251450" cy="4351655"/>
          </a:xfrm>
        </p:spPr>
        <p:txBody>
          <a:bodyPr/>
          <a:p>
            <a:pPr marL="0" indent="0" algn="l" fontAlgn="auto">
              <a:lnSpc>
                <a:spcPct val="140000"/>
              </a:lnSpc>
              <a:spcAft>
                <a:spcPts val="0"/>
              </a:spcAft>
              <a:buNone/>
            </a:pPr>
            <a:r>
              <a:rPr lang="en-US" altLang="en-US" sz="2300"/>
              <a:t>Observations</a:t>
            </a:r>
            <a:endParaRPr lang="en-US" altLang="en-US" sz="2300"/>
          </a:p>
          <a:p>
            <a:pPr algn="l" fontAlgn="auto">
              <a:lnSpc>
                <a:spcPct val="140000"/>
              </a:lnSpc>
              <a:spcAft>
                <a:spcPts val="0"/>
              </a:spcAft>
            </a:pPr>
            <a:r>
              <a:rPr lang="en-US" altLang="en-US" sz="2300"/>
              <a:t>Each cluster shows a distinct age profile</a:t>
            </a:r>
            <a:r>
              <a:rPr lang="en-IN" altLang="en-US" sz="2300"/>
              <a:t>.</a:t>
            </a:r>
            <a:endParaRPr lang="en-US" altLang="en-US" sz="2300"/>
          </a:p>
          <a:p>
            <a:pPr algn="l" fontAlgn="auto">
              <a:lnSpc>
                <a:spcPct val="140000"/>
              </a:lnSpc>
              <a:spcAft>
                <a:spcPts val="0"/>
              </a:spcAft>
            </a:pPr>
            <a:r>
              <a:rPr lang="en-US" altLang="en-US" sz="2300"/>
              <a:t>Spending patterns vary significantly across clusters</a:t>
            </a:r>
            <a:r>
              <a:rPr lang="en-IN" altLang="en-US" sz="2300"/>
              <a:t>.</a:t>
            </a:r>
            <a:endParaRPr lang="en-US" altLang="en-US" sz="2300"/>
          </a:p>
          <a:p>
            <a:pPr algn="l" fontAlgn="auto">
              <a:lnSpc>
                <a:spcPct val="140000"/>
              </a:lnSpc>
              <a:spcAft>
                <a:spcPts val="0"/>
              </a:spcAft>
            </a:pPr>
            <a:r>
              <a:rPr lang="en-US" altLang="en-US" sz="2300"/>
              <a:t>Indicates effective and</a:t>
            </a:r>
            <a:r>
              <a:rPr lang="en-IN" altLang="en-US" sz="2300"/>
              <a:t> </a:t>
            </a:r>
            <a:r>
              <a:rPr lang="en-US" altLang="en-US" sz="2300"/>
              <a:t>meaningful customer segmentation</a:t>
            </a:r>
            <a:r>
              <a:rPr lang="en-IN" altLang="en-US" sz="2300"/>
              <a:t>.</a:t>
            </a:r>
            <a:endParaRPr lang="en-IN" altLang="en-US" sz="230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0135235" y="6508115"/>
            <a:ext cx="2056765" cy="365125"/>
          </a:xfrm>
        </p:spPr>
        <p:txBody>
          <a:bodyPr/>
          <a:p>
            <a:r>
              <a:rPr lang="en-US" sz="1000"/>
              <a:t>Customer Analytics Project | 2025</a:t>
            </a:r>
            <a:endParaRPr lang="en-US" sz="1000"/>
          </a:p>
        </p:txBody>
      </p:sp>
      <p:pic>
        <p:nvPicPr>
          <p:cNvPr id="5" name="Picture 4"/>
          <p:cNvPicPr/>
          <p:nvPr/>
        </p:nvPicPr>
        <p:blipFill>
          <a:blip r:embed="rId1"/>
          <a:stretch>
            <a:fillRect/>
          </a:stretch>
        </p:blipFill>
        <p:spPr>
          <a:xfrm>
            <a:off x="6383020" y="1740535"/>
            <a:ext cx="2569845" cy="1903095"/>
          </a:xfrm>
          <a:prstGeom prst="rect">
            <a:avLst/>
          </a:prstGeom>
        </p:spPr>
      </p:pic>
      <p:sp>
        <p:nvSpPr>
          <p:cNvPr id="6" name="Rectangles 5"/>
          <p:cNvSpPr/>
          <p:nvPr/>
        </p:nvSpPr>
        <p:spPr>
          <a:xfrm flipV="1">
            <a:off x="762635" y="1177925"/>
            <a:ext cx="8996680" cy="18000"/>
          </a:xfrm>
          <a:prstGeom prst="rect">
            <a:avLst/>
          </a:prstGeom>
          <a:solidFill>
            <a:schemeClr val="accent5">
              <a:lumMod val="50000"/>
            </a:schemeClr>
          </a:solidFill>
          <a:ln w="0" cmpd="sng">
            <a:noFill/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7" name="Picture 6"/>
          <p:cNvPicPr/>
          <p:nvPr/>
        </p:nvPicPr>
        <p:blipFill>
          <a:blip r:embed="rId2"/>
          <a:stretch>
            <a:fillRect/>
          </a:stretch>
        </p:blipFill>
        <p:spPr>
          <a:xfrm>
            <a:off x="9100820" y="1740535"/>
            <a:ext cx="2569845" cy="1903095"/>
          </a:xfrm>
          <a:prstGeom prst="rect">
            <a:avLst/>
          </a:prstGeom>
        </p:spPr>
      </p:pic>
      <p:pic>
        <p:nvPicPr>
          <p:cNvPr id="8" name="Picture 7"/>
          <p:cNvPicPr/>
          <p:nvPr/>
        </p:nvPicPr>
        <p:blipFill>
          <a:blip r:embed="rId3"/>
          <a:stretch>
            <a:fillRect/>
          </a:stretch>
        </p:blipFill>
        <p:spPr>
          <a:xfrm>
            <a:off x="6383020" y="3983990"/>
            <a:ext cx="2569845" cy="1888490"/>
          </a:xfrm>
          <a:prstGeom prst="rect">
            <a:avLst/>
          </a:prstGeom>
        </p:spPr>
      </p:pic>
      <p:pic>
        <p:nvPicPr>
          <p:cNvPr id="9" name="Picture 8"/>
          <p:cNvPicPr/>
          <p:nvPr/>
        </p:nvPicPr>
        <p:blipFill>
          <a:blip r:embed="rId4"/>
          <a:stretch>
            <a:fillRect/>
          </a:stretch>
        </p:blipFill>
        <p:spPr>
          <a:xfrm>
            <a:off x="9099550" y="3979545"/>
            <a:ext cx="2571115" cy="188849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635" y="614680"/>
            <a:ext cx="10515600" cy="595630"/>
          </a:xfrm>
        </p:spPr>
        <p:txBody>
          <a:bodyPr/>
          <a:p>
            <a:r>
              <a:rPr lang="en-US" altLang="en-US" sz="3200" b="1">
                <a:solidFill>
                  <a:schemeClr val="accent5">
                    <a:lumMod val="50000"/>
                  </a:schemeClr>
                </a:solidFill>
              </a:rPr>
              <a:t>CATEGORY &amp; SEASONAL INSIGHTS</a:t>
            </a:r>
            <a:endParaRPr lang="en-US" altLang="en-US" sz="3200" b="1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84655"/>
            <a:ext cx="6007735" cy="5172710"/>
          </a:xfrm>
        </p:spPr>
        <p:txBody>
          <a:bodyPr>
            <a:noAutofit/>
          </a:bodyPr>
          <a:p>
            <a:pPr marL="0" indent="0" algn="l" fontAlgn="auto">
              <a:lnSpc>
                <a:spcPct val="140000"/>
              </a:lnSpc>
              <a:spcAft>
                <a:spcPts val="0"/>
              </a:spcAft>
              <a:buNone/>
            </a:pPr>
            <a:r>
              <a:rPr lang="en-US" altLang="en-US" sz="2300">
                <a:solidFill>
                  <a:schemeClr val="tx1">
                    <a:lumMod val="85000"/>
                    <a:lumOff val="15000"/>
                  </a:schemeClr>
                </a:solidFill>
              </a:rPr>
              <a:t>Key Observations</a:t>
            </a:r>
            <a:endParaRPr lang="en-US" altLang="en-US" sz="23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l" fontAlgn="auto">
              <a:lnSpc>
                <a:spcPct val="140000"/>
              </a:lnSpc>
              <a:spcAft>
                <a:spcPts val="0"/>
              </a:spcAft>
            </a:pPr>
            <a:r>
              <a:rPr lang="en-US" altLang="en-US" sz="2300">
                <a:solidFill>
                  <a:schemeClr val="tx1">
                    <a:lumMod val="85000"/>
                    <a:lumOff val="15000"/>
                  </a:schemeClr>
                </a:solidFill>
              </a:rPr>
              <a:t>Purchase behavior varies across product categories</a:t>
            </a:r>
            <a:r>
              <a:rPr lang="en-IN" altLang="en-US" sz="230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  <a:endParaRPr lang="en-US" altLang="en-US" sz="23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l" fontAlgn="auto">
              <a:lnSpc>
                <a:spcPct val="140000"/>
              </a:lnSpc>
              <a:spcAft>
                <a:spcPts val="0"/>
              </a:spcAft>
            </a:pPr>
            <a:r>
              <a:rPr lang="en-US" altLang="en-US" sz="2300">
                <a:solidFill>
                  <a:schemeClr val="tx1">
                    <a:lumMod val="85000"/>
                    <a:lumOff val="15000"/>
                  </a:schemeClr>
                </a:solidFill>
              </a:rPr>
              <a:t>Seasonal trends influence customer buying patterns</a:t>
            </a:r>
            <a:r>
              <a:rPr lang="en-IN" altLang="en-US" sz="230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  <a:endParaRPr lang="en-US" altLang="en-US" sz="23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l" fontAlgn="auto">
              <a:lnSpc>
                <a:spcPct val="140000"/>
              </a:lnSpc>
              <a:spcAft>
                <a:spcPts val="0"/>
              </a:spcAft>
            </a:pPr>
            <a:r>
              <a:rPr lang="en-US" altLang="en-US" sz="2300">
                <a:solidFill>
                  <a:schemeClr val="tx1">
                    <a:lumMod val="85000"/>
                    <a:lumOff val="15000"/>
                  </a:schemeClr>
                </a:solidFill>
              </a:rPr>
              <a:t>Certain categories show higher engagement during specific seasons</a:t>
            </a:r>
            <a:r>
              <a:rPr lang="en-IN" altLang="en-US" sz="230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  <a:endParaRPr lang="en-US" altLang="en-US" sz="23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 algn="l" fontAlgn="auto">
              <a:lnSpc>
                <a:spcPct val="120000"/>
              </a:lnSpc>
              <a:spcAft>
                <a:spcPts val="0"/>
              </a:spcAft>
              <a:buNone/>
            </a:pPr>
            <a:endParaRPr lang="en-US" altLang="en-US" sz="23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760585" y="6492875"/>
            <a:ext cx="2431415" cy="365125"/>
          </a:xfrm>
        </p:spPr>
        <p:txBody>
          <a:bodyPr/>
          <a:p>
            <a:r>
              <a:rPr lang="en-US" sz="1000"/>
              <a:t>Customer Analytics Project | 2025</a:t>
            </a:r>
            <a:endParaRPr lang="en-US" sz="1000"/>
          </a:p>
        </p:txBody>
      </p:sp>
      <p:sp>
        <p:nvSpPr>
          <p:cNvPr id="6" name="Rectangles 5"/>
          <p:cNvSpPr/>
          <p:nvPr/>
        </p:nvSpPr>
        <p:spPr>
          <a:xfrm flipV="1">
            <a:off x="762635" y="1210310"/>
            <a:ext cx="8551545" cy="18000"/>
          </a:xfrm>
          <a:prstGeom prst="rect">
            <a:avLst/>
          </a:prstGeom>
          <a:solidFill>
            <a:schemeClr val="accent5">
              <a:lumMod val="50000"/>
            </a:schemeClr>
          </a:solidFill>
          <a:ln w="0" cmpd="sng">
            <a:noFill/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8" name="Picture 7"/>
          <p:cNvPicPr/>
          <p:nvPr/>
        </p:nvPicPr>
        <p:blipFill>
          <a:blip r:embed="rId1"/>
          <a:stretch>
            <a:fillRect/>
          </a:stretch>
        </p:blipFill>
        <p:spPr>
          <a:xfrm>
            <a:off x="7476490" y="1673225"/>
            <a:ext cx="3651250" cy="2253615"/>
          </a:xfrm>
          <a:prstGeom prst="rect">
            <a:avLst/>
          </a:prstGeom>
        </p:spPr>
      </p:pic>
      <p:pic>
        <p:nvPicPr>
          <p:cNvPr id="9" name="Picture 8"/>
          <p:cNvPicPr/>
          <p:nvPr/>
        </p:nvPicPr>
        <p:blipFill>
          <a:blip r:embed="rId2"/>
          <a:stretch>
            <a:fillRect/>
          </a:stretch>
        </p:blipFill>
        <p:spPr>
          <a:xfrm>
            <a:off x="7476490" y="4055745"/>
            <a:ext cx="3648075" cy="22021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50240"/>
            <a:ext cx="10515600" cy="669925"/>
          </a:xfrm>
        </p:spPr>
        <p:txBody>
          <a:bodyPr/>
          <a:p>
            <a:r>
              <a:rPr lang="en-US" altLang="en-US" sz="3200" b="1" cap="all">
                <a:solidFill>
                  <a:schemeClr val="accent5">
                    <a:lumMod val="50000"/>
                  </a:schemeClr>
                </a:solidFill>
                <a:uFillTx/>
              </a:rPr>
              <a:t>Customer Payment and Purchase Behavior</a:t>
            </a:r>
            <a:endParaRPr lang="en-US" altLang="en-US" sz="3200" b="1" cap="all">
              <a:solidFill>
                <a:schemeClr val="accent5">
                  <a:lumMod val="50000"/>
                </a:schemeClr>
              </a:solidFill>
              <a:uFillTx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974080" cy="4351655"/>
          </a:xfrm>
        </p:spPr>
        <p:txBody>
          <a:bodyPr/>
          <a:p>
            <a:pPr fontAlgn="auto">
              <a:lnSpc>
                <a:spcPct val="140000"/>
              </a:lnSpc>
              <a:spcAft>
                <a:spcPts val="0"/>
              </a:spcAft>
            </a:pPr>
            <a:r>
              <a:rPr lang="en-US" altLang="en-US" sz="2300"/>
              <a:t>Multiple payment options improve customer convenience</a:t>
            </a:r>
            <a:r>
              <a:rPr lang="en-IN" altLang="en-US" sz="2300"/>
              <a:t>.</a:t>
            </a:r>
            <a:endParaRPr lang="en-US" altLang="en-US" sz="2300"/>
          </a:p>
          <a:p>
            <a:pPr fontAlgn="auto">
              <a:lnSpc>
                <a:spcPct val="140000"/>
              </a:lnSpc>
              <a:spcAft>
                <a:spcPts val="0"/>
              </a:spcAft>
            </a:pPr>
            <a:r>
              <a:rPr lang="en-US" altLang="en-US" sz="2300"/>
              <a:t>Digital-first customers can be targeted with online offers</a:t>
            </a:r>
            <a:r>
              <a:rPr lang="en-IN" altLang="en-US" sz="2300"/>
              <a:t>.</a:t>
            </a:r>
            <a:endParaRPr lang="en-US" altLang="en-US" sz="2300"/>
          </a:p>
          <a:p>
            <a:pPr fontAlgn="auto">
              <a:lnSpc>
                <a:spcPct val="140000"/>
              </a:lnSpc>
              <a:spcAft>
                <a:spcPts val="0"/>
              </a:spcAft>
            </a:pPr>
            <a:r>
              <a:rPr lang="en-US" altLang="en-US" sz="2300"/>
              <a:t>High-frequency buyers are strong candidates for loyalty programs</a:t>
            </a:r>
            <a:r>
              <a:rPr lang="en-IN" altLang="en-US" sz="2300"/>
              <a:t>.</a:t>
            </a:r>
            <a:endParaRPr lang="en-IN" altLang="en-US" sz="230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0229215" y="6492875"/>
            <a:ext cx="1962785" cy="365125"/>
          </a:xfrm>
        </p:spPr>
        <p:txBody>
          <a:bodyPr/>
          <a:p>
            <a:r>
              <a:rPr lang="en-US" sz="1000"/>
              <a:t>Customer Analytics Project | 2025</a:t>
            </a:r>
            <a:endParaRPr lang="en-US" sz="1000"/>
          </a:p>
        </p:txBody>
      </p:sp>
      <p:sp>
        <p:nvSpPr>
          <p:cNvPr id="6" name="Rectangles 5"/>
          <p:cNvSpPr/>
          <p:nvPr/>
        </p:nvSpPr>
        <p:spPr>
          <a:xfrm flipV="1">
            <a:off x="762635" y="1210310"/>
            <a:ext cx="8551545" cy="18000"/>
          </a:xfrm>
          <a:prstGeom prst="rect">
            <a:avLst/>
          </a:prstGeom>
          <a:solidFill>
            <a:schemeClr val="accent5">
              <a:lumMod val="50000"/>
            </a:schemeClr>
          </a:solidFill>
          <a:ln w="0" cmpd="sng">
            <a:noFill/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5" name="Picture 4"/>
          <p:cNvPicPr/>
          <p:nvPr/>
        </p:nvPicPr>
        <p:blipFill>
          <a:blip r:embed="rId1"/>
          <a:stretch>
            <a:fillRect/>
          </a:stretch>
        </p:blipFill>
        <p:spPr>
          <a:xfrm>
            <a:off x="6882130" y="1569720"/>
            <a:ext cx="3640455" cy="1744980"/>
          </a:xfrm>
          <a:prstGeom prst="rect">
            <a:avLst/>
          </a:prstGeom>
        </p:spPr>
      </p:pic>
      <p:pic>
        <p:nvPicPr>
          <p:cNvPr id="7" name="Picture 6"/>
          <p:cNvPicPr/>
          <p:nvPr/>
        </p:nvPicPr>
        <p:blipFill>
          <a:blip r:embed="rId2"/>
          <a:srcRect r="3268" b="1541"/>
          <a:stretch>
            <a:fillRect/>
          </a:stretch>
        </p:blipFill>
        <p:spPr>
          <a:xfrm>
            <a:off x="6882130" y="3564255"/>
            <a:ext cx="2312035" cy="1826260"/>
          </a:xfrm>
          <a:prstGeom prst="rect">
            <a:avLst/>
          </a:prstGeom>
        </p:spPr>
      </p:pic>
      <p:pic>
        <p:nvPicPr>
          <p:cNvPr id="8" name="Picture 7"/>
          <p:cNvPicPr/>
          <p:nvPr/>
        </p:nvPicPr>
        <p:blipFill>
          <a:blip r:embed="rId3"/>
          <a:srcRect t="-34" r="2193"/>
          <a:stretch>
            <a:fillRect/>
          </a:stretch>
        </p:blipFill>
        <p:spPr>
          <a:xfrm>
            <a:off x="9426575" y="3564255"/>
            <a:ext cx="2180590" cy="184721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13105"/>
            <a:ext cx="10515600" cy="521335"/>
          </a:xfrm>
        </p:spPr>
        <p:txBody>
          <a:bodyPr>
            <a:normAutofit fontScale="90000"/>
          </a:bodyPr>
          <a:p>
            <a:r>
              <a:rPr lang="en-US" altLang="en-US" sz="3200" b="1">
                <a:solidFill>
                  <a:schemeClr val="accent5">
                    <a:lumMod val="50000"/>
                  </a:schemeClr>
                </a:solidFill>
              </a:rPr>
              <a:t>CONCLUSION &amp; RECOMMENDATIONS</a:t>
            </a:r>
            <a:endParaRPr lang="en-US" altLang="en-US" sz="3200" b="1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635" y="1651635"/>
            <a:ext cx="10515600" cy="4916805"/>
          </a:xfrm>
        </p:spPr>
        <p:txBody>
          <a:bodyPr>
            <a:noAutofit/>
          </a:bodyPr>
          <a:p>
            <a:pPr marL="0" indent="0">
              <a:lnSpc>
                <a:spcPct val="140000"/>
              </a:lnSpc>
              <a:spcAft>
                <a:spcPts val="0"/>
              </a:spcAft>
              <a:buNone/>
            </a:pPr>
            <a:r>
              <a:rPr lang="en-US" altLang="en-US" sz="2300"/>
              <a:t>Conclusion</a:t>
            </a:r>
            <a:endParaRPr lang="en-US" altLang="en-US" sz="2300"/>
          </a:p>
          <a:p>
            <a:pPr>
              <a:lnSpc>
                <a:spcPct val="140000"/>
              </a:lnSpc>
              <a:spcAft>
                <a:spcPts val="0"/>
              </a:spcAft>
            </a:pPr>
            <a:r>
              <a:rPr lang="en-US" altLang="en-US" sz="2300"/>
              <a:t>Customer segmentation successfully identified three distinct customer groups</a:t>
            </a:r>
            <a:r>
              <a:rPr lang="en-IN" altLang="en-US" sz="2300"/>
              <a:t>.</a:t>
            </a:r>
            <a:endParaRPr lang="en-US" altLang="en-US" sz="2300"/>
          </a:p>
          <a:p>
            <a:pPr>
              <a:lnSpc>
                <a:spcPct val="140000"/>
              </a:lnSpc>
              <a:spcAft>
                <a:spcPts val="0"/>
              </a:spcAft>
            </a:pPr>
            <a:r>
              <a:rPr lang="en-US" altLang="en-US" sz="2300"/>
              <a:t>Each cluster exhibits unique demographic and behavioral characteristics</a:t>
            </a:r>
            <a:r>
              <a:rPr lang="en-IN" altLang="en-US" sz="2300"/>
              <a:t>.</a:t>
            </a:r>
            <a:endParaRPr lang="en-US" altLang="en-US" sz="2300"/>
          </a:p>
          <a:p>
            <a:pPr>
              <a:lnSpc>
                <a:spcPct val="140000"/>
              </a:lnSpc>
              <a:spcAft>
                <a:spcPts val="0"/>
              </a:spcAft>
            </a:pPr>
            <a:r>
              <a:rPr lang="en-US" altLang="en-US" sz="2300"/>
              <a:t>The segmentation provides actionable business insights</a:t>
            </a:r>
            <a:r>
              <a:rPr lang="en-IN" altLang="en-US" sz="2300"/>
              <a:t>.</a:t>
            </a:r>
            <a:endParaRPr lang="en-US" altLang="en-US" sz="2300"/>
          </a:p>
          <a:p>
            <a:pPr marL="0" indent="0">
              <a:lnSpc>
                <a:spcPct val="140000"/>
              </a:lnSpc>
              <a:spcAft>
                <a:spcPts val="0"/>
              </a:spcAft>
              <a:buNone/>
            </a:pPr>
            <a:r>
              <a:rPr lang="en-US" altLang="en-US" sz="2300"/>
              <a:t>Recommendations</a:t>
            </a:r>
            <a:endParaRPr lang="en-US" altLang="en-US" sz="2300"/>
          </a:p>
          <a:p>
            <a:pPr>
              <a:lnSpc>
                <a:spcPct val="140000"/>
              </a:lnSpc>
              <a:spcAft>
                <a:spcPts val="0"/>
              </a:spcAft>
            </a:pPr>
            <a:r>
              <a:rPr lang="en-US" altLang="en-US" sz="2300"/>
              <a:t>Target high-value customers with personalized offers</a:t>
            </a:r>
            <a:r>
              <a:rPr lang="en-IN" altLang="en-US" sz="2300"/>
              <a:t>.</a:t>
            </a:r>
            <a:endParaRPr lang="en-US" altLang="en-US" sz="2300"/>
          </a:p>
          <a:p>
            <a:pPr>
              <a:lnSpc>
                <a:spcPct val="140000"/>
              </a:lnSpc>
              <a:spcAft>
                <a:spcPts val="0"/>
              </a:spcAft>
            </a:pPr>
            <a:r>
              <a:rPr lang="en-US" altLang="en-US" sz="2300"/>
              <a:t>Use discounts strategically for price-sensitive clusters</a:t>
            </a:r>
            <a:r>
              <a:rPr lang="en-IN" altLang="en-US" sz="2300"/>
              <a:t>.</a:t>
            </a:r>
            <a:endParaRPr lang="en-US" altLang="en-US" sz="2300"/>
          </a:p>
          <a:p>
            <a:pPr>
              <a:lnSpc>
                <a:spcPct val="140000"/>
              </a:lnSpc>
              <a:spcAft>
                <a:spcPts val="0"/>
              </a:spcAft>
            </a:pPr>
            <a:r>
              <a:rPr lang="en-US" altLang="en-US" sz="2300"/>
              <a:t>Design cluster-specific marketing and retention strategies</a:t>
            </a:r>
            <a:r>
              <a:rPr lang="en-IN" altLang="en-US" sz="2300"/>
              <a:t>.</a:t>
            </a:r>
            <a:endParaRPr lang="en-IN" altLang="en-US" sz="230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667875" y="6492875"/>
            <a:ext cx="2524125" cy="365125"/>
          </a:xfrm>
        </p:spPr>
        <p:txBody>
          <a:bodyPr/>
          <a:p>
            <a:r>
              <a:rPr lang="en-US" sz="1000"/>
              <a:t>Customer Analytics Project | 2025</a:t>
            </a:r>
            <a:endParaRPr lang="en-US" sz="1000"/>
          </a:p>
        </p:txBody>
      </p:sp>
      <p:sp>
        <p:nvSpPr>
          <p:cNvPr id="6" name="Rectangles 5"/>
          <p:cNvSpPr/>
          <p:nvPr/>
        </p:nvSpPr>
        <p:spPr>
          <a:xfrm flipV="1">
            <a:off x="762635" y="1210310"/>
            <a:ext cx="8551545" cy="18000"/>
          </a:xfrm>
          <a:prstGeom prst="rect">
            <a:avLst/>
          </a:prstGeom>
          <a:solidFill>
            <a:schemeClr val="accent5">
              <a:lumMod val="50000"/>
            </a:schemeClr>
          </a:solidFill>
          <a:ln w="0" cmpd="sng">
            <a:noFill/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Apex">
    <a:dk1>
      <a:sysClr val="windowText" lastClr="000000"/>
    </a:dk1>
    <a:lt1>
      <a:sysClr val="window" lastClr="FFFFFF"/>
    </a:lt1>
    <a:dk2>
      <a:srgbClr val="69676D"/>
    </a:dk2>
    <a:lt2>
      <a:srgbClr val="C9C2D1"/>
    </a:lt2>
    <a:accent1>
      <a:srgbClr val="CEB966"/>
    </a:accent1>
    <a:accent2>
      <a:srgbClr val="9CB084"/>
    </a:accent2>
    <a:accent3>
      <a:srgbClr val="6BB1C9"/>
    </a:accent3>
    <a:accent4>
      <a:srgbClr val="6585CF"/>
    </a:accent4>
    <a:accent5>
      <a:srgbClr val="7E6BC9"/>
    </a:accent5>
    <a:accent6>
      <a:srgbClr val="A379BB"/>
    </a:accent6>
    <a:hlink>
      <a:srgbClr val="410082"/>
    </a:hlink>
    <a:folHlink>
      <a:srgbClr val="932968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2992</Words>
  <Application>WPS Presentation</Application>
  <PresentationFormat>Widescreen</PresentationFormat>
  <Paragraphs>115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SimSun</vt:lpstr>
      <vt:lpstr>Wingdings</vt:lpstr>
      <vt:lpstr>Arial Unicode MS</vt:lpstr>
      <vt:lpstr>Calibri Light</vt:lpstr>
      <vt:lpstr>Calibri</vt:lpstr>
      <vt:lpstr>Microsoft YaHei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GREESHMA</dc:creator>
  <cp:lastModifiedBy>Greeshma C P</cp:lastModifiedBy>
  <cp:revision>26</cp:revision>
  <dcterms:created xsi:type="dcterms:W3CDTF">2025-07-23T00:59:00Z</dcterms:created>
  <dcterms:modified xsi:type="dcterms:W3CDTF">2026-01-09T07:53:16Z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3187F221E8F4488286E001CBD8678943_11</vt:lpwstr>
  </property>
  <property fmtid="{D5CDD505-2E9C-101B-9397-08002B2CF9AE}" pid="3" name="KSOProductBuildVer">
    <vt:lpwstr>1033-12.2.0.23196</vt:lpwstr>
  </property>
</Properties>
</file>